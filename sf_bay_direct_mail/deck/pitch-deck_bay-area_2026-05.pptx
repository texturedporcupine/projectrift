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3A"/>
                </a:solidFill>
              </a:rPr>
              <a:t>SF BAY AREA · SHARED POSTCARD DIRECT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Reach 6,000 Bay Area homes.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D4A03A"/>
                </a:solidFill>
              </a:rPr>
              <a:t>Share the cost. Own your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1EA"/>
                </a:solidFill>
              </a:rPr>
              <a:t>One postcard. 8 non-competing local businesses. USPS Every Door Direct Mail.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1EA"/>
                </a:solidFill>
              </a:rPr>
              <a:t>Prepared May 2026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3A"/>
                </a:solidFill>
              </a:rPr>
              <a:t>WHO YOU'RE REACHING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E1F3A"/>
                </a:solidFill>
              </a:rPr>
              <a:t>Danville, CA — 94526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B3D"/>
                </a:solidFill>
              </a:rPr>
              <a:t>Affluent East Bay community along the I-680 corridor.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697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E1F3A"/>
                </a:solidFill>
              </a:rPr>
              <a:t>$185K+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A7080"/>
                </a:solidFill>
              </a:rPr>
              <a:t>Median household income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697480"/>
            <a:ext cx="2697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E1F3A"/>
                </a:solidFill>
              </a:rPr>
              <a:t>18,000+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6118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A7080"/>
                </a:solidFill>
              </a:rPr>
              <a:t>Households in 94526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97480"/>
            <a:ext cx="2697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E1F3A"/>
                </a:solidFill>
              </a:rPr>
              <a:t>~80%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6118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A7080"/>
                </a:solidFill>
              </a:rPr>
              <a:t>Owner-occupied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697480"/>
            <a:ext cx="2697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E1F3A"/>
                </a:solidFill>
              </a:rPr>
              <a:t>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118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A7080"/>
                </a:solidFill>
              </a:rPr>
              <a:t>Pieces delivered per campaign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F3A"/>
                </a:solidFill>
              </a:rPr>
              <a:t>Why Danville works for direct 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22B3D"/>
                </a:solidFill>
              </a:rPr>
              <a:t>• Strong HOA infrastructure — residents read community mail.</a:t>
            </a:r>
          </a:p>
          <a:p>
            <a:pPr algn="l"/>
            <a:r>
              <a:rPr sz="1400">
                <a:solidFill>
                  <a:srgbClr val="222B3D"/>
                </a:solidFill>
              </a:rPr>
              <a:t>• Top-rated schools (San Ramon Valley USD) keep families anchored long-term.</a:t>
            </a:r>
          </a:p>
          <a:p>
            <a:pPr algn="l"/>
            <a:r>
              <a:rPr sz="1400">
                <a:solidFill>
                  <a:srgbClr val="222B3D"/>
                </a:solidFill>
              </a:rPr>
              <a:t>• Dense local-business corridor along Hartz Ave, Diablo Rd, and Camino Tassajara.</a:t>
            </a:r>
          </a:p>
          <a:p>
            <a:pPr algn="l"/>
            <a:r>
              <a:rPr sz="1400">
                <a:solidFill>
                  <a:srgbClr val="222B3D"/>
                </a:solidFill>
              </a:rPr>
              <a:t>• Tier 1 EDDM walks: Tassajara, Sycamore, Westside, Diablo 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3A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F3A"/>
                </a:solidFill>
              </a:rPr>
              <a:t>8 businesses. 1 postcard. 1 winner per category.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514600"/>
            <a:ext cx="640080" cy="640080"/>
          </a:xfrm>
          <a:prstGeom prst="ellipse">
            <a:avLst/>
          </a:prstGeom>
          <a:solidFill>
            <a:srgbClr val="D4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1F3A"/>
                </a:solidFill>
              </a:rPr>
              <a:t>Lock your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B3D"/>
                </a:solidFill>
              </a:rPr>
              <a:t>Only one HVAC, one dentist, one pool service. We hold your slot from day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8600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514600"/>
            <a:ext cx="640080" cy="640080"/>
          </a:xfrm>
          <a:prstGeom prst="ellipse">
            <a:avLst/>
          </a:prstGeom>
          <a:solidFill>
            <a:srgbClr val="D4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1F3A"/>
                </a:solidFill>
              </a:rPr>
              <a:t>We design + 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88620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B3D"/>
                </a:solidFill>
              </a:rPr>
              <a:t>Pro postcard design. Your logo, offer, photo, QR code. You approve every proof.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2514600"/>
            <a:ext cx="640080" cy="640080"/>
          </a:xfrm>
          <a:prstGeom prst="ellipse">
            <a:avLst/>
          </a:prstGeom>
          <a:solidFill>
            <a:srgbClr val="D4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1F3A"/>
                </a:solidFill>
              </a:rPr>
              <a:t>USPS EDDM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B3D"/>
                </a:solidFill>
              </a:rPr>
              <a:t>We blanket every household on the route — 6,000 doors in Danville 94526.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28600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2514600"/>
            <a:ext cx="640080" cy="640080"/>
          </a:xfrm>
          <a:prstGeom prst="ellipse">
            <a:avLst/>
          </a:prstGeom>
          <a:solidFill>
            <a:srgbClr val="D4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2918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1F3A"/>
                </a:solidFill>
              </a:rPr>
              <a:t>You answer the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88620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B3D"/>
                </a:solidFill>
              </a:rPr>
              <a:t>Track results with a unique phone number, QR code, or promo code.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1F3A"/>
                </a:solidFill>
              </a:rPr>
              <a:t>Exclusive category lock — no competitor on the same card. 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3A"/>
                </a:solidFill>
              </a:rPr>
              <a:t>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What's it really worth?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A03A"/>
                </a:solidFill>
              </a:rPr>
              <a:t>Tier 2 baseline · 6,000 households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53035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</a:tblGrid>
              <a:tr h="5181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Households reached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Typical response rate (1%)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60 calls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Booked job conversion (50%)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30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Avg ticket (HVAC tune-up + repair)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$280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Gross revenue from one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$8,400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Your ad investment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D"/>
                          </a:solidFill>
                        </a:rPr>
                        <a:t>$650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A03A"/>
                </a:solidFill>
              </a:rPr>
              <a:t>Break-even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D4A03A"/>
                </a:solidFill>
              </a:rPr>
              <a:t>3 jobs.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Three booked jobs at average ticket clears your $650 investment. Everything after that is margin — for the next 6–8 weeks of fridge-magnet life on this card.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4F1EA"/>
                </a:solidFill>
              </a:rPr>
              <a:t>Trackable: dedicated phone number + QR code + promo code. You see exactly what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3A"/>
                </a:solidFill>
              </a:rPr>
              <a:t>PRICING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E1F3A"/>
                </a:solidFill>
              </a:rPr>
              <a:t>Lock your category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4A03A"/>
                </a:solidFill>
              </a:rPr>
              <a:t>STANDARD 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E1F3A"/>
                </a:solidFill>
              </a:rPr>
              <a:t>$650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B3D"/>
                </a:solidFill>
              </a:rPr>
              <a:t>1 of 8 category-exclusive slots. Full-color layout, your logo, offer, QR code, and dedicated tracking phone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0E1F3A"/>
          </a:solidFill>
          <a:ln w="19050">
            <a:solidFill>
              <a:srgbClr val="D4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4A03A"/>
                </a:solidFill>
              </a:rPr>
              <a:t>PREMIUM 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$950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9319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4F1EA"/>
                </a:solidFill>
              </a:rPr>
              <a:t>Cover-side placement, 30% larger panel, opening-fold position. Best fit for HVAC, med spa, dentist, roofing.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4A03A"/>
                </a:solidFill>
              </a:rPr>
              <a:t>MULTI-CAMPAIGN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3464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E1F3A"/>
                </a:solidFill>
              </a:rPr>
              <a:t>Save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319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B3D"/>
                </a:solidFill>
              </a:rPr>
              <a:t>Lock 2+ consecutive campaigns and save 15%. We hold your category between drops so no competitor can buy 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1F3A"/>
                </a:solidFill>
              </a:rPr>
              <a:t>Next step: 50% deposit secures your category. We send proofs in 5 business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