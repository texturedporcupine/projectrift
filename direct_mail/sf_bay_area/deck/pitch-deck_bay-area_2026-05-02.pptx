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800">
                <a:solidFill>
                  <a:srgbClr val="F8FAFC"/>
                </a:solidFill>
              </a:defRPr>
            </a:pPr>
            <a:r>
              <a:t>Own the Mailbox</a:t>
            </a:r>
          </a:p>
          <a:p>
            <a:pPr>
              <a:defRPr sz="1800">
                <a:solidFill>
                  <a:srgbClr val="CBD5E1"/>
                </a:solidFill>
              </a:defRPr>
            </a:pPr>
            <a:r>
              <a:t>Shared postcard advertising for high-income Bay Area homeowner communities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698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8FAFC"/>
                </a:solidFill>
              </a:defRPr>
            </a:pPr>
            <a:r>
              <a:t>One postcard. One business per category. Thousands of local mailboxes.</a:t>
            </a:r>
          </a:p>
          <a:p>
            <a:pPr lvl="1">
              <a:spcAft>
                <a:spcPts val="1000"/>
              </a:spcAft>
              <a:defRPr sz="1800">
                <a:solidFill>
                  <a:srgbClr val="CBD5E1"/>
                </a:solidFill>
              </a:defRPr>
            </a:pPr>
            <a:r>
              <a:t>Built for Danville, San Ramon, Pleasanton, and similar Bay Area communities.</a:t>
            </a:r>
          </a:p>
          <a:p>
            <a:pPr lvl="1">
              <a:spcAft>
                <a:spcPts val="1000"/>
              </a:spcAft>
              <a:defRPr sz="1800">
                <a:solidFill>
                  <a:srgbClr val="CBD5E1"/>
                </a:solidFill>
              </a:defRPr>
            </a:pPr>
            <a:r>
              <a:t>Professional design, print coordination, USPS EDDM delivery, and post-campaign follow-up.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5715000"/>
            <a:ext cx="3840480" cy="5029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000000"/>
                </a:solidFill>
              </a:defRPr>
            </a:pPr>
            <a:r>
              <a:t>Pilot target: 5,000-8,000 households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800">
                <a:solidFill>
                  <a:srgbClr val="F8FAFC"/>
                </a:solidFill>
              </a:defRPr>
            </a:pPr>
            <a:r>
              <a:t>Why these communities</a:t>
            </a:r>
          </a:p>
          <a:p>
            <a:pPr>
              <a:defRPr sz="1800">
                <a:solidFill>
                  <a:srgbClr val="CBD5E1"/>
                </a:solidFill>
              </a:defRPr>
            </a:pPr>
            <a:r>
              <a:t>High-income households, homeowner density, and strong local service demand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828800"/>
          <a:ext cx="107899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2157984"/>
                <a:gridCol w="2157984"/>
                <a:gridCol w="2157984"/>
                <a:gridCol w="2157984"/>
              </a:tblGrid>
              <a:tr h="50292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8FAFC"/>
                          </a:solidFill>
                        </a:defRPr>
                      </a:pPr>
                      <a:r>
                        <a:t>Community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8FAFC"/>
                          </a:solidFill>
                        </a:defRPr>
                      </a:pPr>
                      <a:r>
                        <a:t>Zip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8FAFC"/>
                          </a:solidFill>
                        </a:defRPr>
                      </a:pPr>
                      <a:r>
                        <a:t>HHI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8FAFC"/>
                          </a:solidFill>
                        </a:defRPr>
                      </a:pPr>
                      <a:r>
                        <a:t>Homes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8FAFC"/>
                          </a:solidFill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8FAFC"/>
                          </a:solidFill>
                        </a:defRPr>
                      </a:pPr>
                      <a:r>
                        <a:t>Danville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8FAFC"/>
                          </a:solidFill>
                        </a:defRPr>
                      </a:pPr>
                      <a:r>
                        <a:t>94526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8FAFC"/>
                          </a:solidFill>
                        </a:defRPr>
                      </a:pPr>
                      <a:r>
                        <a:t>$185K+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8FAFC"/>
                          </a:solidFill>
                        </a:defRPr>
                      </a:pPr>
                      <a:r>
                        <a:t>18,000+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8FAF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8FAFC"/>
                          </a:solidFill>
                        </a:defRPr>
                      </a:pPr>
                      <a:r>
                        <a:t>San Ramon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8FAFC"/>
                          </a:solidFill>
                        </a:defRPr>
                      </a:pPr>
                      <a:r>
                        <a:t>94582/83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8FAFC"/>
                          </a:solidFill>
                        </a:defRPr>
                      </a:pPr>
                      <a:r>
                        <a:t>$160K+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8FAFC"/>
                          </a:solidFill>
                        </a:defRPr>
                      </a:pPr>
                      <a:r>
                        <a:t>30,000+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8FAFC"/>
                          </a:solidFill>
                        </a:defRPr>
                      </a:pPr>
                      <a:r>
                        <a:t>1-2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8FAFC"/>
                          </a:solidFill>
                        </a:defRPr>
                      </a:pPr>
                      <a:r>
                        <a:t>Pleasanton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8FAFC"/>
                          </a:solidFill>
                        </a:defRPr>
                      </a:pPr>
                      <a:r>
                        <a:t>94566/88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8FAFC"/>
                          </a:solidFill>
                        </a:defRPr>
                      </a:pPr>
                      <a:r>
                        <a:t>$155K+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8FAFC"/>
                          </a:solidFill>
                        </a:defRPr>
                      </a:pPr>
                      <a:r>
                        <a:t>28,000+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8FAFC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434340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8FAFC"/>
                </a:solidFill>
              </a:defRPr>
            </a:pPr>
            <a:r>
              <a:t>Use route-level USPS validation before final counts.</a:t>
            </a:r>
          </a:p>
          <a:p>
            <a:pPr lvl="1">
              <a:spcAft>
                <a:spcPts val="1000"/>
              </a:spcAft>
              <a:defRPr sz="1800">
                <a:solidFill>
                  <a:srgbClr val="CBD5E1"/>
                </a:solidFill>
              </a:defRPr>
            </a:pPr>
            <a:r>
              <a:t>Start with Danville or San Ramon for the first pilot.</a:t>
            </a:r>
          </a:p>
          <a:p>
            <a:pPr lvl="1">
              <a:spcAft>
                <a:spcPts val="1000"/>
              </a:spcAft>
              <a:defRPr sz="1800">
                <a:solidFill>
                  <a:srgbClr val="CBD5E1"/>
                </a:solidFill>
              </a:defRPr>
            </a:pPr>
            <a:r>
              <a:t>Keep campaigns geographically tight so advertisers buy local reach, not waste.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800">
                <a:solidFill>
                  <a:srgbClr val="F8FAFC"/>
                </a:solidFill>
              </a:defRPr>
            </a:pPr>
            <a:r>
              <a:t>How the campaign works</a:t>
            </a:r>
          </a:p>
          <a:p>
            <a:pPr>
              <a:defRPr sz="1800">
                <a:solidFill>
                  <a:srgbClr val="CBD5E1"/>
                </a:solidFill>
              </a:defRPr>
            </a:pPr>
            <a:r>
              <a:t>A simple managed process for local advertisers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698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8FAFC"/>
                </a:solidFill>
              </a:defRPr>
            </a:pPr>
            <a:r>
              <a:t>1. Pick 2-3 EDDM routes in the target community.</a:t>
            </a:r>
          </a:p>
          <a:p>
            <a:pPr lvl="1">
              <a:spcAft>
                <a:spcPts val="1000"/>
              </a:spcAft>
              <a:defRPr sz="1800">
                <a:solidFill>
                  <a:srgbClr val="CBD5E1"/>
                </a:solidFill>
              </a:defRPr>
            </a:pPr>
            <a:r>
              <a:t>2. Sell 6-8 non-competing categories with exclusivity.</a:t>
            </a:r>
          </a:p>
          <a:p>
            <a:pPr lvl="1">
              <a:spcAft>
                <a:spcPts val="1000"/>
              </a:spcAft>
              <a:defRPr sz="1800">
                <a:solidFill>
                  <a:srgbClr val="CBD5E1"/>
                </a:solidFill>
              </a:defRPr>
            </a:pPr>
            <a:r>
              <a:t>3. Collect 50% deposit, gather assets, and route proofs.</a:t>
            </a:r>
          </a:p>
          <a:p>
            <a:pPr lvl="1">
              <a:spcAft>
                <a:spcPts val="1000"/>
              </a:spcAft>
              <a:defRPr sz="1800">
                <a:solidFill>
                  <a:srgbClr val="CBD5E1"/>
                </a:solidFill>
              </a:defRPr>
            </a:pPr>
            <a:r>
              <a:t>4. Collect final 50%, print, bundle, and drop at the DDU.</a:t>
            </a:r>
          </a:p>
          <a:p>
            <a:pPr lvl="1">
              <a:spcAft>
                <a:spcPts val="1000"/>
              </a:spcAft>
              <a:defRPr sz="1800">
                <a:solidFill>
                  <a:srgbClr val="CBD5E1"/>
                </a:solidFill>
              </a:defRPr>
            </a:pPr>
            <a:r>
              <a:t>5. Follow up 2 weeks after delivery for results and renewal.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800">
                <a:solidFill>
                  <a:srgbClr val="F8FAFC"/>
                </a:solidFill>
              </a:defRPr>
            </a:pPr>
            <a:r>
              <a:t>Pricing and break-even math</a:t>
            </a:r>
          </a:p>
          <a:p>
            <a:pPr>
              <a:defRPr sz="1800">
                <a:solidFill>
                  <a:srgbClr val="CBD5E1"/>
                </a:solidFill>
              </a:defRPr>
            </a:pPr>
            <a:r>
              <a:t>Bay Area pricing with a practical ROI frame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737360"/>
          <a:ext cx="55778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</a:tblGrid>
              <a:tr h="54864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8FAFC"/>
                          </a:solidFill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8FAFC"/>
                          </a:solidFill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8FAFC"/>
                          </a:solidFill>
                        </a:defRPr>
                      </a:pPr>
                      <a:r>
                        <a:t>Premium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b="0">
                          <a:solidFill>
                            <a:srgbClr val="F8FAFC"/>
                          </a:solidFill>
                        </a:defRPr>
                      </a:pPr>
                      <a:r>
                        <a:t>Tier 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>
                          <a:solidFill>
                            <a:srgbClr val="F8FAFC"/>
                          </a:solidFill>
                        </a:defRPr>
                      </a:pPr>
                      <a:r>
                        <a:t>$700-900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>
                          <a:solidFill>
                            <a:srgbClr val="F8FAFC"/>
                          </a:solidFill>
                        </a:defRPr>
                      </a:pPr>
                      <a:r>
                        <a:t>$1,100-1,400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b="0">
                          <a:solidFill>
                            <a:srgbClr val="F8FAFC"/>
                          </a:solidFill>
                        </a:defRPr>
                      </a:pPr>
                      <a:r>
                        <a:t>Tier 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>
                          <a:solidFill>
                            <a:srgbClr val="F8FAFC"/>
                          </a:solidFill>
                        </a:defRPr>
                      </a:pPr>
                      <a:r>
                        <a:t>$550-750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>
                          <a:solidFill>
                            <a:srgbClr val="F8FAFC"/>
                          </a:solidFill>
                        </a:defRPr>
                      </a:pPr>
                      <a:r>
                        <a:t>$850-1,100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b="0">
                          <a:solidFill>
                            <a:srgbClr val="F8FAFC"/>
                          </a:solidFill>
                        </a:defRPr>
                      </a:pPr>
                      <a:r>
                        <a:t>Tier 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>
                          <a:solidFill>
                            <a:srgbClr val="F8FAFC"/>
                          </a:solidFill>
                        </a:defRPr>
                      </a:pPr>
                      <a:r>
                        <a:t>$400-600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>
                          <a:solidFill>
                            <a:srgbClr val="F8FAFC"/>
                          </a:solidFill>
                        </a:defRPr>
                      </a:pPr>
                      <a:r>
                        <a:t>$650-850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629400" y="182880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8FAFC"/>
                </a:solidFill>
              </a:defRPr>
            </a:pPr>
            <a:r>
              <a:t>Break-even lens</a:t>
            </a:r>
          </a:p>
          <a:p>
            <a:pPr lvl="1">
              <a:spcAft>
                <a:spcPts val="1000"/>
              </a:spcAft>
              <a:defRPr sz="1800">
                <a:solidFill>
                  <a:srgbClr val="CBD5E1"/>
                </a:solidFill>
              </a:defRPr>
            </a:pPr>
            <a:r>
              <a:t>If the ad costs $650 and one new job is worth $500-$1,500, most advertisers only need one or two responses.</a:t>
            </a:r>
          </a:p>
          <a:p>
            <a:pPr lvl="1">
              <a:spcAft>
                <a:spcPts val="1000"/>
              </a:spcAft>
              <a:defRPr sz="1800">
                <a:solidFill>
                  <a:srgbClr val="CBD5E1"/>
                </a:solidFill>
              </a:defRPr>
            </a:pPr>
            <a:r>
              <a:t>Pilot cost estimate: about $1,685 for 5,000 pieces before owner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800">
                <a:solidFill>
                  <a:srgbClr val="F8FAFC"/>
                </a:solidFill>
              </a:defRPr>
            </a:pPr>
            <a:r>
              <a:t>Reserve your category</a:t>
            </a:r>
          </a:p>
          <a:p>
            <a:pPr>
              <a:defRPr sz="1800">
                <a:solidFill>
                  <a:srgbClr val="CBD5E1"/>
                </a:solidFill>
              </a:defRPr>
            </a:pPr>
            <a:r>
              <a:t>Next step for interested local advertisers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698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8FAFC"/>
                </a:solidFill>
              </a:defRPr>
            </a:pPr>
            <a:r>
              <a:t>What happens next</a:t>
            </a:r>
          </a:p>
          <a:p>
            <a:pPr lvl="1">
              <a:spcAft>
                <a:spcPts val="1000"/>
              </a:spcAft>
              <a:defRPr sz="1800">
                <a:solidFill>
                  <a:srgbClr val="CBD5E1"/>
                </a:solidFill>
              </a:defRPr>
            </a:pPr>
            <a:r>
              <a:t>Review the route count and sample layout.</a:t>
            </a:r>
          </a:p>
          <a:p>
            <a:pPr lvl="1">
              <a:spcAft>
                <a:spcPts val="1000"/>
              </a:spcAft>
              <a:defRPr sz="1800">
                <a:solidFill>
                  <a:srgbClr val="CBD5E1"/>
                </a:solidFill>
              </a:defRPr>
            </a:pPr>
            <a:r>
              <a:t>Reserve the category with a 50% deposit.</a:t>
            </a:r>
          </a:p>
          <a:p>
            <a:pPr lvl="1">
              <a:spcAft>
                <a:spcPts val="1000"/>
              </a:spcAft>
              <a:defRPr sz="1800">
                <a:solidFill>
                  <a:srgbClr val="CBD5E1"/>
                </a:solidFill>
              </a:defRPr>
            </a:pPr>
            <a:r>
              <a:t>Approve your proof before print.</a:t>
            </a:r>
          </a:p>
          <a:p>
            <a:pPr lvl="1">
              <a:spcAft>
                <a:spcPts val="1000"/>
              </a:spcAft>
              <a:defRPr sz="1800">
                <a:solidFill>
                  <a:srgbClr val="CBD5E1"/>
                </a:solidFill>
              </a:defRPr>
            </a:pPr>
            <a:r>
              <a:t>Review results 2 weeks after delivery and renew at a multi-campaign discount.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