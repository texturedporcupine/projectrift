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D4A84B"/>
                </a:solidFill>
                <a:latin typeface="Calibri"/>
              </a:rPr>
              <a:t>SF BAY AREA DIRECT 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Reach every door in</a:t>
            </a:r>
          </a:p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Danville, 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F4EFE6"/>
                </a:solidFill>
                <a:latin typeface="Calibri"/>
              </a:rPr>
              <a:t>One advertiser per category. 6,000 households per drop. Exclusive — by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84B"/>
                </a:solidFill>
                <a:latin typeface="Calibri"/>
              </a:rPr>
              <a:t>Tier 1  |  94526  |  Med. HHI $185K+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D4A84B"/>
                </a:solidFill>
                <a:latin typeface="Calibri"/>
              </a:rPr>
              <a:t>Danville, CA — Shared Postcard Direct 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D4A84B"/>
                </a:solidFill>
                <a:latin typeface="Calibr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Danville, CA — 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D4A84B"/>
                </a:solidFill>
                <a:latin typeface="Calibri"/>
              </a:rPr>
              <a:t>Tier 1 community  |  Zip 94526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060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0D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0B1F3A"/>
                </a:solidFill>
                <a:latin typeface="Calibri"/>
              </a:rPr>
              <a:t>$185K+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324466"/>
                </a:solidFill>
                <a:latin typeface="Calibri"/>
              </a:rPr>
              <a:t>Median household income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6060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0D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46304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0B1F3A"/>
                </a:solidFill>
                <a:latin typeface="Calibri"/>
              </a:rPr>
              <a:t>18,000+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4028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324466"/>
                </a:solidFill>
                <a:latin typeface="Calibri"/>
              </a:rPr>
              <a:t>Households in community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6060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0D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46304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0B1F3A"/>
                </a:solidFill>
                <a:latin typeface="Calibri"/>
              </a:rPr>
              <a:t>~80%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4028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324466"/>
                </a:solidFill>
                <a:latin typeface="Calibri"/>
              </a:rPr>
              <a:t>Homeownership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6060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0D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46304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0B1F3A"/>
                </a:solidFill>
                <a:latin typeface="Calibri"/>
              </a:rPr>
              <a:t>6,000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24028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324466"/>
                </a:solidFill>
                <a:latin typeface="Calibri"/>
              </a:rPr>
              <a:t>HHs reached per drop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Why this community fits the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324466"/>
                </a:solidFill>
                <a:latin typeface="Calibri"/>
              </a:rPr>
              <a:t>• Anchor neighborhoods: Blackhawk + Diablo + downtown Hartz Ave.</a:t>
            </a:r>
          </a:p>
          <a:p>
            <a:pPr algn="l"/>
            <a:r>
              <a:rPr sz="1600" b="0">
                <a:solidFill>
                  <a:srgbClr val="324466"/>
                </a:solidFill>
                <a:latin typeface="Calibri"/>
              </a:rPr>
              <a:t>• Schools: SRVUSD (top 5% in CA) — long-tenured, mail-reading families</a:t>
            </a:r>
          </a:p>
          <a:p>
            <a:pPr algn="l"/>
            <a:r>
              <a:rPr sz="1600" b="0">
                <a:solidFill>
                  <a:srgbClr val="324466"/>
                </a:solidFill>
                <a:latin typeface="Calibri"/>
              </a:rPr>
              <a:t>• Active HOAs and a community newsletter culture</a:t>
            </a:r>
          </a:p>
          <a:p>
            <a:pPr algn="l"/>
            <a:r>
              <a:rPr sz="1600" b="0">
                <a:solidFill>
                  <a:srgbClr val="324466"/>
                </a:solidFill>
                <a:latin typeface="Calibri"/>
              </a:rPr>
              <a:t>• Strong demand verticals: HVAC, landscape, pool, dentist, med spa</a:t>
            </a:r>
          </a:p>
          <a:p>
            <a:pPr algn="l"/>
            <a:r>
              <a:rPr sz="1600" b="0">
                <a:solidFill>
                  <a:srgbClr val="324466"/>
                </a:solidFill>
                <a:latin typeface="Calibri"/>
              </a:rPr>
              <a:t>• 2-3 EDDM carrier routes deliver ~6,000 households per drop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D4A84B"/>
                </a:solidFill>
                <a:latin typeface="Calibri"/>
              </a:rPr>
              <a:t>Danville, CA — Shared Postcard Direct 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97135" y="656539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D4A84B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How it works — and why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D4A84B"/>
                </a:solidFill>
                <a:latin typeface="Calibri"/>
              </a:rPr>
              <a:t>One business per category per postcard. Exclusivity is the product.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280160"/>
            <a:ext cx="640080" cy="64008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075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Pick the community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64208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24466"/>
                </a:solidFill>
                <a:latin typeface="Calibri"/>
              </a:rPr>
              <a:t>Lock 2-3 EDDM routes in Danville, CA (94526).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148840"/>
            <a:ext cx="640080" cy="64008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7627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Lock category exclusivity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32888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24466"/>
                </a:solidFill>
                <a:latin typeface="Calibri"/>
              </a:rPr>
              <a:t>One HVAC, one dentist, one pool, one med spa...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017520"/>
            <a:ext cx="640080" cy="64008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4495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Design + proof + 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401568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24466"/>
                </a:solidFill>
                <a:latin typeface="Calibri"/>
              </a:rPr>
              <a:t>8.5x11, 14pt cardstock. Sign-off from every advertiser.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886200"/>
            <a:ext cx="640080" cy="64008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8620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1363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EDDM drop at the DDU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270248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24466"/>
                </a:solidFill>
                <a:latin typeface="Calibri"/>
              </a:rPr>
              <a:t>~6,000 households at $0.247/piece postage.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754880"/>
            <a:ext cx="640080" cy="64008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75488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78231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Renew &amp; expand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138928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24466"/>
                </a:solidFill>
                <a:latin typeface="Calibri"/>
              </a:rPr>
              <a:t>2-week follow-up. Multi-campaign discount. Compounding pipeline.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D4A84B"/>
                </a:solidFill>
                <a:latin typeface="Calibri"/>
              </a:rPr>
              <a:t>Danville, CA — Shared Postcard Direct 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7135" y="656539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D4A84B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ROI math — your side of the postcard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D4A84B"/>
                </a:solidFill>
                <a:latin typeface="Calibri"/>
              </a:rPr>
              <a:t>Conservative response, Bay Area pricing assumptions.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28016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D4A84B"/>
                </a:solidFill>
                <a:latin typeface="Calibri"/>
              </a:rPr>
              <a:t>Estimate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C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24466"/>
                </a:solidFill>
                <a:latin typeface="Calibri"/>
              </a:rPr>
              <a:t>Households reached this drop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78308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6,000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11247120" cy="502920"/>
          </a:xfrm>
          <a:prstGeom prst="rect">
            <a:avLst/>
          </a:prstGeom>
          <a:solidFill>
            <a:srgbClr val="ECE5D4"/>
          </a:solidFill>
          <a:ln>
            <a:solidFill>
              <a:srgbClr val="D8C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24466"/>
                </a:solidFill>
                <a:latin typeface="Calibri"/>
              </a:rPr>
              <a:t>Your ad space (Tier average)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28600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$800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11247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C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8892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24466"/>
                </a:solidFill>
                <a:latin typeface="Calibri"/>
              </a:rPr>
              <a:t>Conservative response (0.5%)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78892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30 calls / clicks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11247120" cy="502920"/>
          </a:xfrm>
          <a:prstGeom prst="rect">
            <a:avLst/>
          </a:prstGeom>
          <a:solidFill>
            <a:srgbClr val="ECE5D4"/>
          </a:solidFill>
          <a:ln>
            <a:solidFill>
              <a:srgbClr val="D8C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24466"/>
                </a:solidFill>
                <a:latin typeface="Calibri"/>
              </a:rPr>
              <a:t>Strong response (1.5%)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29184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90 calls / clicks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94760"/>
            <a:ext cx="11247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C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9476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24466"/>
                </a:solidFill>
                <a:latin typeface="Calibri"/>
              </a:rPr>
              <a:t>If 5% of those leads convert at $400 avg job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79476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$600 - $1,800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97680"/>
            <a:ext cx="11247120" cy="502920"/>
          </a:xfrm>
          <a:prstGeom prst="rect">
            <a:avLst/>
          </a:prstGeom>
          <a:solidFill>
            <a:srgbClr val="ECE5D4"/>
          </a:solidFill>
          <a:ln>
            <a:solidFill>
              <a:srgbClr val="D8C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9768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24466"/>
                </a:solidFill>
                <a:latin typeface="Calibri"/>
              </a:rPr>
              <a:t>Cost per impression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29768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$0.133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00600"/>
            <a:ext cx="11247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C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80060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24466"/>
                </a:solidFill>
                <a:latin typeface="Calibri"/>
              </a:rPr>
              <a:t>Break-even at 1 closed job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80060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Yes, on most categories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574A"/>
                </a:solidFill>
                <a:latin typeface="Calibri"/>
              </a:rPr>
              <a:t>One closed job typically pays for the ad. Everything after is margin — for a year.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D4A84B"/>
                </a:solidFill>
                <a:latin typeface="Calibri"/>
              </a:rPr>
              <a:t>Danville, CA — Shared Postcard Direct Mail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97135" y="656539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D4A84B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Pricing — and what you walk away with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D4A84B"/>
                </a:solidFill>
                <a:latin typeface="Calibri"/>
              </a:rPr>
              <a:t>All prices include design, proof rounds, print, and EDDM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6576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57600" cy="457200"/>
          </a:xfrm>
          <a:prstGeom prst="rect">
            <a:avLst/>
          </a:prstGeom>
          <a:solidFill>
            <a:srgbClr val="32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0B1F3A"/>
                </a:solidFill>
                <a:latin typeface="Calibri"/>
              </a:rPr>
              <a:t>$700-$900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324466"/>
                </a:solidFill>
                <a:latin typeface="Calibri"/>
              </a:rPr>
              <a:t>1 of 6-8 ad slots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32004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Category exclusivity for the campaign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Logo + offer + phone + URL + QR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Front or back placement, balanced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All design + print + delivery included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36576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3657600" cy="45720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6002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Premium placement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9456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0B1F3A"/>
                </a:solidFill>
                <a:latin typeface="Calibri"/>
              </a:rPr>
              <a:t>$1,100-$1,400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432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324466"/>
                </a:solidFill>
                <a:latin typeface="Calibri"/>
              </a:rPr>
              <a:t>Back panel or featured anchor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246120"/>
            <a:ext cx="32004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Largest ad block on the postcard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First-page mention in cover panel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Right-of-first-refusal on next campaign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All design + print + delivery included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554480"/>
            <a:ext cx="36576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554480"/>
            <a:ext cx="3657600" cy="457200"/>
          </a:xfrm>
          <a:prstGeom prst="rect">
            <a:avLst/>
          </a:prstGeom>
          <a:solidFill>
            <a:srgbClr val="C95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6002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Renewal partner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9456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0B1F3A"/>
                </a:solidFill>
                <a:latin typeface="Calibri"/>
              </a:rPr>
              <a:t>15-20% 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7432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324466"/>
                </a:solidFill>
                <a:latin typeface="Calibri"/>
              </a:rPr>
              <a:t>Lock category for 3+ campaigns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246120"/>
            <a:ext cx="32004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Locked category exclusivity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Discounted slot price every campaign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Quarterly performance review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First call on premium placement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86400"/>
            <a:ext cx="11247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84B"/>
                </a:solidFill>
                <a:latin typeface="Calibri"/>
              </a:rPr>
              <a:t>Hold your category by signing today. 50% deposit locks the slot, 50% before printing.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hello@yourdomain.com  |  (510) 555-0142  |  yourdomain.com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D4A84B"/>
                </a:solidFill>
                <a:latin typeface="Calibri"/>
              </a:rPr>
              <a:t>Danville, CA — Shared Postcard Direct 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97135" y="656539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D4A84B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